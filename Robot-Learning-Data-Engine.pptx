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dPt>
            <c:idx val="0"/>
            <c:spPr>
              <a:solidFill>
                <a:srgbClr val="2EC4B6"/>
              </a:solidFill>
              <a:ln>
                <a:noFill/>
              </a:ln>
            </c:spPr>
          </c:dPt>
          <c:dPt>
            <c:idx val="1"/>
            <c:spPr>
              <a:solidFill>
                <a:srgbClr val="8FA3B8"/>
              </a:solidFill>
              <a:ln>
                <a:noFill/>
              </a:ln>
            </c:spPr>
          </c:dPt>
          <c:dPt>
            <c:idx val="2"/>
            <c:spPr>
              <a:solidFill>
                <a:srgbClr val="3DA9FC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Peak raw</c:v>
                </c:pt>
                <c:pt idx="1">
                  <c:v>Budget</c:v>
                </c:pt>
                <c:pt idx="2">
                  <c:v>Total processed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100</c:v>
                </c:pt>
                <c:pt idx="2">
                  <c:v>252</c:v>
                </c:pt>
              </c:numCache>
            </c:numRef>
          </c:val>
        </c:ser>
        <c:dLbls>
          <c:numFmt formatCode="#,##0&quot; MB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200">
                <a:solidFill>
                  <a:srgbClr val="EAF1F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dPt>
            <c:idx val="0"/>
            <c:spPr>
              <a:solidFill>
                <a:srgbClr val="E06C5E"/>
              </a:solidFill>
              <a:ln>
                <a:noFill/>
              </a:ln>
            </c:spPr>
          </c:dPt>
          <c:dPt>
            <c:idx val="1"/>
            <c:spPr>
              <a:solidFill>
                <a:srgbClr val="E06C5E"/>
              </a:solidFill>
              <a:ln>
                <a:noFill/>
              </a:ln>
            </c:spPr>
          </c:dPt>
          <c:dPt>
            <c:idx val="2"/>
            <c:spPr>
              <a:solidFill>
                <a:srgbClr val="2EC4B6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Attempt 1
z-score vs self</c:v>
                </c:pt>
                <c:pt idx="1">
                  <c:v>Attempt 2
global mean + 6σ</c:v>
                </c:pt>
                <c:pt idx="2">
                  <c:v>Attempt 3
robust percentile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94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>
                  <a:solidFill>
                    <a:srgbClr val="13233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200">
                <a:solidFill>
                  <a:srgbClr val="1323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a batch pipeline that ingests public robot-demonstration data, quality-filters it, and publishes versioned datasets — while never letting raw data exceed a fixed disk budget. Add your name to the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constraints that shaped every design choice: scale, quality, and heterogeneity.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Acquire, validate/gate, augment, catalog, publish — under a hard disk budget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is the whole idea. Eviction after durable commit is what bounds raw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slide. Peak raw stayed at 14 MB against a 100 MB budget while 252 MB streamed through — 2.35x the budget. The synthetic proof shows the same shape offline and asserts it in the test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instructive part of the build — two dead ends before the shipped robust-percentile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clip — this is the real footage the pipeline ingests, gates, and curates. Two camera streams per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definition-of-done deliverable: two catalogued versions, real + augmented, with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were visible from the plan. Value was in noticing and adjusting under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engine is the first link — it produces the clean, versioned data downstream systems assume.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 thesis and the stack.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noFill/>
          <a:ln w="19050">
            <a:solidFill>
              <a:srgbClr val="16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noFill/>
          <a:ln w="15240">
            <a:solidFill>
              <a:srgbClr val="1C3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Robot-Learning Data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EC4B6"/>
                </a:solidFill>
                <a:latin typeface="Calibri"/>
              </a:rPr>
              <a:t>A storage-aware, quality-gated pipeline for robot-demonstration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CADCFC"/>
                </a:solidFill>
                <a:latin typeface="Calibri"/>
              </a:rPr>
              <a:t>Bounded raw disk while unbounded data flows through — measured, not hoped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  <a:latin typeface="Calibri"/>
              </a:rPr>
              <a:t>Data-engineering portfolio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3233A"/>
                </a:solidFill>
                <a:latin typeface="Cambria"/>
              </a:rPr>
              <a:t>Why robot-learning data is hard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8299" y="1783080"/>
            <a:ext cx="3429000" cy="33832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8339" y="2148840"/>
            <a:ext cx="822960" cy="8229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339" y="22860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320040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3233A"/>
                </a:solidFill>
                <a:latin typeface="Calibri"/>
              </a:rPr>
              <a:t>Massive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339" y="37947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A8D"/>
                </a:solidFill>
                <a:latin typeface="Calibri"/>
              </a:rPr>
              <a:t>Public corpora run to many terabytes. You cannot hold a full dataset on local disk while you process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347" y="1783080"/>
            <a:ext cx="3429000" cy="33832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1387" y="2148840"/>
            <a:ext cx="822960" cy="822960"/>
          </a:xfrm>
          <a:prstGeom prst="ellipse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1387" y="22860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1387" y="320040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3233A"/>
                </a:solidFill>
                <a:latin typeface="Calibri"/>
              </a:rPr>
              <a:t>Uneven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37947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A8D"/>
                </a:solidFill>
                <a:latin typeface="Calibri"/>
              </a:rPr>
              <a:t>Quality varies episode to episode. A few bad demonstrations quietly poison downstream 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4395" y="1783080"/>
            <a:ext cx="3429000" cy="33832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14435" y="214884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4435" y="22860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4435" y="320040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3233A"/>
                </a:solidFill>
                <a:latin typeface="Calibri"/>
              </a:rPr>
              <a:t>Heterogeneous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4435" y="3794760"/>
            <a:ext cx="2788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A8D"/>
                </a:solidFill>
                <a:latin typeface="Calibri"/>
              </a:rPr>
              <a:t>Formats and embodiments differ across dataset versions and robots — the same field can mean joints or centimetres.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3233A"/>
                </a:solidFill>
                <a:latin typeface="Cambria"/>
              </a:rPr>
              <a:t>What the engine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7A8D"/>
                </a:solidFill>
                <a:latin typeface="Calibri"/>
              </a:rPr>
              <a:t>A single vertical batch pipeline — five stages, one hard constraint.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5731" y="2286000"/>
            <a:ext cx="1965960" cy="1463040"/>
          </a:xfrm>
          <a:prstGeom prst="roundRect">
            <a:avLst>
              <a:gd name="adj" fmla="val 9000"/>
            </a:avLst>
          </a:prstGeom>
          <a:solidFill>
            <a:srgbClr val="0E1B2E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7171" y="2487168"/>
            <a:ext cx="1783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C4B6"/>
                </a:solidFill>
                <a:latin typeface="Calibr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Acquire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459" y="3291839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from the Hugging Face Hub</a:t>
            </a:r>
          </a:p>
        </p:txBody>
      </p:sp>
      <p:sp>
        <p:nvSpPr>
          <p:cNvPr id="8" name="Chevron 7"/>
          <p:cNvSpPr/>
          <p:nvPr/>
        </p:nvSpPr>
        <p:spPr>
          <a:xfrm>
            <a:off x="2579979" y="2871215"/>
            <a:ext cx="256032" cy="292608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54299" y="2286000"/>
            <a:ext cx="1965960" cy="1463040"/>
          </a:xfrm>
          <a:prstGeom prst="roundRect">
            <a:avLst>
              <a:gd name="adj" fmla="val 9000"/>
            </a:avLst>
          </a:prstGeom>
          <a:solidFill>
            <a:srgbClr val="0E1B2E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5739" y="2487168"/>
            <a:ext cx="1783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C4B6"/>
                </a:solidFill>
                <a:latin typeface="Calibr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Validate
&amp;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4027" y="3291839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schema + signal quality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4838547" y="2871215"/>
            <a:ext cx="256032" cy="292608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12867" y="2286000"/>
            <a:ext cx="1965960" cy="1463040"/>
          </a:xfrm>
          <a:prstGeom prst="roundRect">
            <a:avLst>
              <a:gd name="adj" fmla="val 9000"/>
            </a:avLst>
          </a:prstGeom>
          <a:solidFill>
            <a:srgbClr val="0E1B2E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4307" y="2487168"/>
            <a:ext cx="1783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C4B6"/>
                </a:solidFill>
                <a:latin typeface="Calibri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Augment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595" y="3291839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synthetic rare tasks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97115" y="2871215"/>
            <a:ext cx="256032" cy="292608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71435" y="2286000"/>
            <a:ext cx="1965960" cy="1463040"/>
          </a:xfrm>
          <a:prstGeom prst="roundRect">
            <a:avLst>
              <a:gd name="adj" fmla="val 9000"/>
            </a:avLst>
          </a:prstGeom>
          <a:solidFill>
            <a:srgbClr val="0E1B2E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2875" y="2487168"/>
            <a:ext cx="1783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C4B6"/>
                </a:solidFill>
                <a:latin typeface="Calibri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1163" y="3291839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versioned + lineage</a:t>
            </a:r>
          </a:p>
        </p:txBody>
      </p:sp>
      <p:sp>
        <p:nvSpPr>
          <p:cNvPr id="20" name="Chevron 19"/>
          <p:cNvSpPr/>
          <p:nvPr/>
        </p:nvSpPr>
        <p:spPr>
          <a:xfrm>
            <a:off x="9355683" y="2871215"/>
            <a:ext cx="256032" cy="292608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30003" y="2286000"/>
            <a:ext cx="1965960" cy="1463040"/>
          </a:xfrm>
          <a:prstGeom prst="roundRect">
            <a:avLst>
              <a:gd name="adj" fmla="val 9000"/>
            </a:avLst>
          </a:prstGeom>
          <a:solidFill>
            <a:srgbClr val="0E1B2E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1443" y="2487168"/>
            <a:ext cx="1783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C4B6"/>
                </a:solidFill>
                <a:latin typeface="Calibri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9731" y="3291839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dataset +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731" y="4297680"/>
            <a:ext cx="11000232" cy="1051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2931" y="4480560"/>
            <a:ext cx="10085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33A"/>
                </a:solidFill>
                <a:latin typeface="Calibri"/>
              </a:rPr>
              <a:t>…all while never letting raw data exceed a fixed disk budget.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2931" y="4919472"/>
            <a:ext cx="10085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A8D"/>
                </a:solidFill>
                <a:latin typeface="Calibri"/>
              </a:rPr>
              <a:t>Architectural clarity over production hardening: every component runs single-node in the simplest form that makes the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3233A"/>
                </a:solidFill>
                <a:latin typeface="Cambria"/>
              </a:rPr>
              <a:t>The headline idea: process-and-evict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677020" y="2570754"/>
            <a:ext cx="403028" cy="292817"/>
          </a:xfrm>
          <a:prstGeom prst="line">
            <a:avLst/>
          </a:prstGeom>
          <a:ln w="28575">
            <a:solidFill>
              <a:srgbClr val="2EC4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329393" y="4000406"/>
            <a:ext cx="153943" cy="473788"/>
          </a:xfrm>
          <a:prstGeom prst="line">
            <a:avLst/>
          </a:prstGeom>
          <a:ln w="28575">
            <a:solidFill>
              <a:srgbClr val="2EC4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874651" y="5209045"/>
            <a:ext cx="498170" cy="0"/>
          </a:xfrm>
          <a:prstGeom prst="line">
            <a:avLst/>
          </a:prstGeom>
          <a:ln w="28575">
            <a:solidFill>
              <a:srgbClr val="2EC4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4726227" y="4052585"/>
            <a:ext cx="153943" cy="473788"/>
          </a:xfrm>
          <a:prstGeom prst="line">
            <a:avLst/>
          </a:prstGeom>
          <a:ln w="28575">
            <a:solidFill>
              <a:srgbClr val="2EC4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068175" y="2603002"/>
            <a:ext cx="403028" cy="292817"/>
          </a:xfrm>
          <a:prstGeom prst="line">
            <a:avLst/>
          </a:prstGeom>
          <a:ln w="28575">
            <a:solidFill>
              <a:srgbClr val="2EC4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33364" y="1485900"/>
            <a:ext cx="1325880" cy="132588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3364" y="1485900"/>
            <a:ext cx="1325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Acquire</a:t>
            </a:r>
          </a:p>
        </p:txBody>
      </p:sp>
      <p:sp>
        <p:nvSpPr>
          <p:cNvPr id="11" name="Oval 10"/>
          <p:cNvSpPr/>
          <p:nvPr/>
        </p:nvSpPr>
        <p:spPr>
          <a:xfrm>
            <a:off x="7042210" y="2654794"/>
            <a:ext cx="1325880" cy="132588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2210" y="2654794"/>
            <a:ext cx="1325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13" name="Oval 12"/>
          <p:cNvSpPr/>
          <p:nvPr/>
        </p:nvSpPr>
        <p:spPr>
          <a:xfrm>
            <a:off x="6427685" y="4546105"/>
            <a:ext cx="1325880" cy="132588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7685" y="4546105"/>
            <a:ext cx="1325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Curate</a:t>
            </a:r>
          </a:p>
        </p:txBody>
      </p:sp>
      <p:sp>
        <p:nvSpPr>
          <p:cNvPr id="15" name="Oval 14"/>
          <p:cNvSpPr/>
          <p:nvPr/>
        </p:nvSpPr>
        <p:spPr>
          <a:xfrm>
            <a:off x="4439043" y="4546105"/>
            <a:ext cx="1325880" cy="132588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9043" y="4546105"/>
            <a:ext cx="1325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17" name="Oval 16"/>
          <p:cNvSpPr/>
          <p:nvPr/>
        </p:nvSpPr>
        <p:spPr>
          <a:xfrm>
            <a:off x="3824519" y="2654794"/>
            <a:ext cx="1325880" cy="1325880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4519" y="2654794"/>
            <a:ext cx="1325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Evict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172200"/>
            <a:ext cx="8531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B7A8D"/>
                </a:solidFill>
                <a:latin typeface="Calibri"/>
              </a:rPr>
              <a:t>Evict only after a durable commit — the raw working set never exceeds the budget, while arbitrarily much data flows through.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Bounded working set, unbounded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Measured on the real DROID-slice scale run — not narrated, asserted in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EC4B6"/>
                </a:solidFill>
                <a:latin typeface="Cambria"/>
              </a:rPr>
              <a:t>14 MB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EAF1FB"/>
                </a:solidFill>
                <a:latin typeface="Calibri"/>
              </a:rPr>
              <a:t>peak concurrent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ADCFC"/>
                </a:solidFill>
                <a:latin typeface="Cambria"/>
              </a:rPr>
              <a:t>100 MB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EAF1FB"/>
                </a:solidFill>
                <a:latin typeface="Calibri"/>
              </a:rPr>
              <a:t>disk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05740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DA9FC"/>
                </a:solidFill>
                <a:latin typeface="Cambria"/>
              </a:rPr>
              <a:t>252 MB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EAF1FB"/>
                </a:solidFill>
                <a:latin typeface="Calibri"/>
              </a:rPr>
              <a:t>total processed  ·  2.35×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75120" y="1965960"/>
          <a:ext cx="49377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07492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2303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C4B6"/>
                </a:solidFill>
                <a:latin typeface="Calibri"/>
              </a:rPr>
              <a:t>peak  &lt;  budget  ≪ 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6509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AF1FB"/>
                </a:solidFill>
                <a:latin typeface="Calibri"/>
              </a:rPr>
              <a:t>56 passed · 4 quarantined · 60 units · invariant holds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3233A"/>
                </a:solidFill>
                <a:latin typeface="Cambria"/>
              </a:rPr>
              <a:t>The signal gate I designed three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6B7A8D"/>
                </a:solidFill>
                <a:latin typeface="Calibri"/>
              </a:rPr>
              <a:t>A plausible metric can be completely wrong on real data. The only way to find out is to run it and look at the distribution.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2011680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1264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B7A8D"/>
                </a:solidFill>
                <a:latin typeface="Calibri"/>
              </a:rPr>
              <a:t>episodes passing, out of 100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2194560"/>
            <a:ext cx="201168" cy="201168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48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Attempt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53288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A8D"/>
                </a:solidFill>
                <a:latin typeface="Calibri"/>
              </a:rPr>
              <a:t>Normalising each episode against itself — still segments collapse the spread, so all 100 fail.</a:t>
            </a:r>
          </a:p>
        </p:txBody>
      </p:sp>
      <p:sp>
        <p:nvSpPr>
          <p:cNvPr id="10" name="Oval 9"/>
          <p:cNvSpPr/>
          <p:nvPr/>
        </p:nvSpPr>
        <p:spPr>
          <a:xfrm>
            <a:off x="6766560" y="3520439"/>
            <a:ext cx="201168" cy="201168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474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Attempt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85876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A8D"/>
                </a:solidFill>
                <a:latin typeface="Calibri"/>
              </a:rPr>
              <a:t>Global mean + 6σ — robot jerk is spiky and heavy-tailed, so ordinary motion reads as ~14σ. 99/100 fail.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4846320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4800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Attempt 3 · shipped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18464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A8D"/>
                </a:solidFill>
                <a:latin typeface="Calibri"/>
              </a:rPr>
              <a:t>Robust percentile threshold + fraction-of-anomalous-frames. A believable 94/100 — thresholds are config, not physics.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This is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DROID Franka-arm demonstrations in the LeRobot on-disk format — exterior and wrist cameras.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87855" y="2075688"/>
            <a:ext cx="9015984" cy="2640901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robot_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61007" y="2148840"/>
            <a:ext cx="8869680" cy="24945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963477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AF1FB"/>
                </a:solidFill>
                <a:latin typeface="Calibri"/>
              </a:rPr>
              <a:t>47 tasks · 32,212 frames in the dev source (droid-100) · v3.0 aggregates many episodes per video file.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3233A"/>
                </a:solidFill>
                <a:latin typeface="Cambria"/>
              </a:rPr>
              <a:t>Versioned, catalogued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B7A8D"/>
                </a:solidFill>
                <a:latin typeface="Calibri"/>
              </a:rPr>
              <a:t>Two dataset versions with real license and lineage — identical rows in Postgres and sqlite.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201168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F2F6FA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3807" y="23317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3233A"/>
                </a:solidFill>
                <a:latin typeface="Calibri"/>
              </a:rPr>
              <a:t>v0.1.0-droid-100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3807" y="28529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889504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3807" y="3611880"/>
            <a:ext cx="140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EC4B6"/>
                </a:solidFill>
                <a:latin typeface="Cambria"/>
              </a:rPr>
              <a:t>94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6B7A8D"/>
                </a:solidFill>
                <a:latin typeface="Calibri"/>
              </a:rPr>
              <a:t>episodes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5887" y="3611880"/>
            <a:ext cx="140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EC4B6"/>
                </a:solidFill>
                <a:latin typeface="Cambria"/>
              </a:rPr>
              <a:t>31,052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6B7A8D"/>
                </a:solidFill>
                <a:latin typeface="Calibri"/>
              </a:rPr>
              <a:t>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7967" y="3611880"/>
            <a:ext cx="140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EC4B6"/>
                </a:solidFill>
                <a:latin typeface="Cambria"/>
              </a:rPr>
              <a:t>94%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6B7A8D"/>
                </a:solidFill>
                <a:latin typeface="Calibri"/>
              </a:rPr>
              <a:t>gate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0167" y="201168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F2F6FA"/>
          </a:solidFill>
          <a:ln>
            <a:noFill/>
          </a:ln>
          <a:effectLst/>
          <a:effectLst>
            <a:outerShdw blurRad="90000" dist="38100" dir="5400000" rotWithShape="0">
              <a:srgbClr val="1A2B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1647" y="23317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3233A"/>
                </a:solidFill>
                <a:latin typeface="Calibri"/>
              </a:rPr>
              <a:t>v0.2.0-droid-100-aug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28529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2889504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Real +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47" y="3611880"/>
            <a:ext cx="140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3DA9FC"/>
                </a:solidFill>
                <a:latin typeface="Cambria"/>
              </a:rPr>
              <a:t>114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6B7A8D"/>
                </a:solidFill>
                <a:latin typeface="Calibri"/>
              </a:rPr>
              <a:t>episodes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727" y="3611880"/>
            <a:ext cx="140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3DA9FC"/>
                </a:solidFill>
                <a:latin typeface="Cambria"/>
              </a:rPr>
              <a:t>34,829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6B7A8D"/>
                </a:solidFill>
                <a:latin typeface="Calibri"/>
              </a:rPr>
              <a:t>frames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807" y="3611880"/>
            <a:ext cx="140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3DA9FC"/>
                </a:solidFill>
                <a:latin typeface="Cambria"/>
              </a:rPr>
              <a:t>95%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6B7A8D"/>
                </a:solidFill>
                <a:latin typeface="Calibri"/>
              </a:rPr>
              <a:t>gate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7A8D"/>
                </a:solidFill>
                <a:latin typeface="Calibri"/>
              </a:rPr>
              <a:t>Augmentation mints synthetic episodes for under-represented tasks and sends them through the same gates as real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33A"/>
                </a:solidFill>
                <a:latin typeface="Cambria"/>
              </a:rPr>
              <a:t>The interesting work was at the boundary with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121408"/>
            <a:ext cx="603504" cy="603504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2140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EC4B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93391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33A"/>
                </a:solidFill>
                <a:latin typeface="Calibri"/>
              </a:rPr>
              <a:t>Format surprise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14015"/>
            <a:ext cx="9052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A8D"/>
                </a:solidFill>
                <a:latin typeface="Calibri"/>
              </a:rPr>
              <a:t>The Hub card said v2.0; the dataset's own info.json said v3.0 — episodes aggregated into files. The fix: make the acquisition unit the file, not the episode.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10128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3694176"/>
            <a:ext cx="603504" cy="603504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94176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EC4B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33A"/>
                </a:solidFill>
                <a:latin typeface="Calibri"/>
              </a:rPr>
              <a:t>Embodiment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986784"/>
            <a:ext cx="9052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A8D"/>
                </a:solidFill>
                <a:latin typeface="Calibri"/>
              </a:rPr>
              <a:t>The dev source is joint-space (7+7=14 dims); the scale mirror is cartesian (8+7=15). Cross-source calibration was invalid, so calibration became source-specific.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82896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000" y="5266944"/>
            <a:ext cx="603504" cy="603504"/>
          </a:xfrm>
          <a:prstGeom prst="ellipse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2669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EC4B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138928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33A"/>
                </a:solidFill>
                <a:latin typeface="Calibri"/>
              </a:rPr>
              <a:t>The gate, twice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559552"/>
            <a:ext cx="9052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A8D"/>
                </a:solidFill>
                <a:latin typeface="Calibri"/>
              </a:rPr>
              <a:t>Two principled metrics failed on real data before the third worked. Only the distribution — not the plan — could reveal the right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3233A"/>
                </a:solidFill>
                <a:latin typeface="Cambria"/>
              </a:rPr>
              <a:t>Honest limits, and 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095" y="164592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429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3233A"/>
                </a:solidFill>
                <a:latin typeface="Calibri"/>
              </a:rPr>
              <a:t>Limitations kept honest</a:t>
            </a:r>
          </a:p>
        </p:txBody>
      </p:sp>
      <p:sp>
        <p:nvSpPr>
          <p:cNvPr id="7" name="Oval 6"/>
          <p:cNvSpPr/>
          <p:nvPr/>
        </p:nvSpPr>
        <p:spPr>
          <a:xfrm>
            <a:off x="1234440" y="2569464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2514600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3233A"/>
                </a:solidFill>
                <a:latin typeface="Calibri"/>
              </a:rPr>
              <a:t>Curated video is not re-segmented — quarantined footage stays in the file (meta marks valid episodes).</a:t>
            </a:r>
          </a:p>
        </p:txBody>
      </p:sp>
      <p:sp>
        <p:nvSpPr>
          <p:cNvPr id="9" name="Oval 8"/>
          <p:cNvSpPr/>
          <p:nvPr/>
        </p:nvSpPr>
        <p:spPr>
          <a:xfrm>
            <a:off x="1234440" y="3410712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3355848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3233A"/>
                </a:solidFill>
                <a:latin typeface="Calibri"/>
              </a:rPr>
              <a:t>Gate thresholds are a calibrated starting point — configuration, tuned per source, not physics.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4251959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4197096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3233A"/>
                </a:solidFill>
                <a:latin typeface="Calibri"/>
              </a:rPr>
              <a:t>Single-node Spark / Airflow / ELK are demonstrative, not production-grade.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5093207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5038344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3233A"/>
                </a:solidFill>
                <a:latin typeface="Calibri"/>
              </a:rPr>
              <a:t>v1 covers one dataset family (DROID).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9575" y="1920240"/>
            <a:ext cx="429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What follows</a:t>
            </a:r>
          </a:p>
        </p:txBody>
      </p:sp>
      <p:sp>
        <p:nvSpPr>
          <p:cNvPr id="16" name="Oval 15"/>
          <p:cNvSpPr/>
          <p:nvPr/>
        </p:nvSpPr>
        <p:spPr>
          <a:xfrm>
            <a:off x="6659575" y="2660904"/>
            <a:ext cx="146304" cy="146304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1327" y="2606040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AF1FB"/>
                </a:solidFill>
                <a:latin typeface="Calibri"/>
              </a:rPr>
              <a:t>OXE cross-embodiment ingest — the acquisition + canonicalisation path generalises.</a:t>
            </a:r>
          </a:p>
        </p:txBody>
      </p:sp>
      <p:sp>
        <p:nvSpPr>
          <p:cNvPr id="18" name="Oval 17"/>
          <p:cNvSpPr/>
          <p:nvPr/>
        </p:nvSpPr>
        <p:spPr>
          <a:xfrm>
            <a:off x="6659575" y="3685032"/>
            <a:ext cx="146304" cy="146304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1327" y="3630168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AF1FB"/>
                </a:solidFill>
                <a:latin typeface="Calibri"/>
              </a:rPr>
              <a:t>Video re-segmentation on curation — physically drop quarantined footage.</a:t>
            </a:r>
          </a:p>
        </p:txBody>
      </p:sp>
      <p:sp>
        <p:nvSpPr>
          <p:cNvPr id="20" name="Oval 19"/>
          <p:cNvSpPr/>
          <p:nvPr/>
        </p:nvSpPr>
        <p:spPr>
          <a:xfrm>
            <a:off x="6659575" y="4709159"/>
            <a:ext cx="146304" cy="146304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1327" y="4654296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AF1FB"/>
                </a:solidFill>
                <a:latin typeface="Calibri"/>
              </a:rPr>
              <a:t>Downstream consumers: fleet-telemetry, digital-twin, and safety-traceability projects.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5486400" cy="5486400"/>
          </a:xfrm>
          <a:prstGeom prst="ellipse">
            <a:avLst/>
          </a:prstGeom>
          <a:noFill/>
          <a:ln w="19050">
            <a:solidFill>
              <a:srgbClr val="16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120640"/>
            <a:ext cx="3474720" cy="3474720"/>
          </a:xfrm>
          <a:prstGeom prst="ellipse">
            <a:avLst/>
          </a:prstGeom>
          <a:noFill/>
          <a:ln w="15240">
            <a:solidFill>
              <a:srgbClr val="1C3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Bounded raw disk while unbounded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data flows through —</a:t>
            </a:r>
          </a:p>
          <a:p>
            <a:pPr algn="l">
              <a:spcBef>
                <a:spcPts val="400"/>
              </a:spcBef>
            </a:pPr>
            <a:r>
              <a:rPr sz="3400" b="1" i="0">
                <a:solidFill>
                  <a:srgbClr val="2EC4B6"/>
                </a:solidFill>
                <a:latin typeface="Cambria"/>
              </a:rPr>
              <a:t>measured, not hoped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Hugging Face Hub · LeRobot · PyArrow · Spark · Postgres · Airflow · ELK · Streamlit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AF1F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